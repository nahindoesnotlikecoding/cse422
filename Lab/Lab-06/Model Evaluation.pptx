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gJSV6IqGDM5RfWbCWQRPD3/7Qp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4"/>
          <p:cNvSpPr txBox="1"/>
          <p:nvPr>
            <p:ph type="ctrTitle"/>
          </p:nvPr>
        </p:nvSpPr>
        <p:spPr>
          <a:xfrm>
            <a:off x="272650" y="417122"/>
            <a:ext cx="8292465" cy="49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5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6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" type="body"/>
          </p:nvPr>
        </p:nvSpPr>
        <p:spPr>
          <a:xfrm>
            <a:off x="384725" y="1216355"/>
            <a:ext cx="82423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6F6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4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33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33"/>
          <p:cNvSpPr txBox="1"/>
          <p:nvPr>
            <p:ph idx="1" type="body"/>
          </p:nvPr>
        </p:nvSpPr>
        <p:spPr>
          <a:xfrm>
            <a:off x="384725" y="1216355"/>
            <a:ext cx="82423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3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jpg"/><Relationship Id="rId5" Type="http://schemas.openxmlformats.org/officeDocument/2006/relationships/image" Target="../media/image7.jpg"/><Relationship Id="rId6" Type="http://schemas.openxmlformats.org/officeDocument/2006/relationships/image" Target="../media/image13.jpg"/><Relationship Id="rId7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Relationship Id="rId4" Type="http://schemas.openxmlformats.org/officeDocument/2006/relationships/image" Target="../media/image27.png"/><Relationship Id="rId5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34.jpg"/><Relationship Id="rId5" Type="http://schemas.openxmlformats.org/officeDocument/2006/relationships/image" Target="../media/image2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jpg"/><Relationship Id="rId4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Relationship Id="rId4" Type="http://schemas.openxmlformats.org/officeDocument/2006/relationships/image" Target="../media/image4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/>
          <p:nvPr/>
        </p:nvSpPr>
        <p:spPr>
          <a:xfrm>
            <a:off x="0" y="375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1F1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" name="Google Shape;46;p1"/>
          <p:cNvSpPr txBox="1"/>
          <p:nvPr/>
        </p:nvSpPr>
        <p:spPr>
          <a:xfrm>
            <a:off x="2026406" y="1879854"/>
            <a:ext cx="5089525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latin typeface="Arial"/>
                <a:ea typeface="Arial"/>
                <a:cs typeface="Arial"/>
                <a:sym typeface="Arial"/>
              </a:rPr>
              <a:t>Model Evaluation</a:t>
            </a:r>
            <a:endParaRPr sz="5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4038600" y="2697734"/>
            <a:ext cx="83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PLN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6F6F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3" name="Google Shape;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975" y="1583649"/>
            <a:ext cx="8583774" cy="31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Regression Model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3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60" name="Google Shape;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910775"/>
            <a:ext cx="8520598" cy="304547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You Model is Trained. Now What ?</a:t>
            </a:r>
            <a:endParaRPr sz="2500"/>
          </a:p>
        </p:txBody>
      </p:sp>
      <p:sp>
        <p:nvSpPr>
          <p:cNvPr id="62" name="Google Shape;62;p3"/>
          <p:cNvSpPr txBox="1"/>
          <p:nvPr/>
        </p:nvSpPr>
        <p:spPr>
          <a:xfrm>
            <a:off x="684674" y="1365556"/>
            <a:ext cx="33267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Ask 2 fundamental questions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" name="Google Shape;68;p4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Framework for Evaluation</a:t>
            </a:r>
            <a:endParaRPr sz="2500"/>
          </a:p>
        </p:txBody>
      </p:sp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4"/>
            <a:ext cx="8828371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" name="Google Shape;75;p5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Mean Absolute Error (MAE)</a:t>
            </a:r>
            <a:endParaRPr sz="2500"/>
          </a:p>
        </p:txBody>
      </p:sp>
      <p:sp>
        <p:nvSpPr>
          <p:cNvPr id="76" name="Google Shape;76;p5"/>
          <p:cNvSpPr txBox="1"/>
          <p:nvPr/>
        </p:nvSpPr>
        <p:spPr>
          <a:xfrm>
            <a:off x="475249" y="3171163"/>
            <a:ext cx="7698740" cy="141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Robust to outlier: </a:t>
            </a: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Less affected by a few extreme errors.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5080" rtl="0" algn="l">
              <a:lnSpc>
                <a:spcPct val="114999"/>
              </a:lnSpc>
              <a:spcBef>
                <a:spcPts val="9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Math Problem: </a:t>
            </a: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absolute value function is not differentiable at zero</a:t>
            </a: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, which creates problems for optimization algorithms like Gradient Descent.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4" y="1017724"/>
            <a:ext cx="6674774" cy="220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Mean Squared Error (MSE)</a:t>
            </a:r>
            <a:endParaRPr sz="2500"/>
          </a:p>
        </p:txBody>
      </p:sp>
      <p:sp>
        <p:nvSpPr>
          <p:cNvPr id="84" name="Google Shape;84;p6"/>
          <p:cNvSpPr txBox="1"/>
          <p:nvPr/>
        </p:nvSpPr>
        <p:spPr>
          <a:xfrm>
            <a:off x="475249" y="3498263"/>
            <a:ext cx="3665220" cy="1172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Differentiable at each point.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Sensitive to outliers due to squaring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1250" y="918150"/>
            <a:ext cx="5559499" cy="265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" name="Google Shape;91;p7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RMSE: The Best of Both Worlds</a:t>
            </a:r>
            <a:endParaRPr sz="2500"/>
          </a:p>
        </p:txBody>
      </p:sp>
      <p:grpSp>
        <p:nvGrpSpPr>
          <p:cNvPr id="92" name="Google Shape;92;p7"/>
          <p:cNvGrpSpPr/>
          <p:nvPr/>
        </p:nvGrpSpPr>
        <p:grpSpPr>
          <a:xfrm>
            <a:off x="834575" y="1843074"/>
            <a:ext cx="7565099" cy="1880075"/>
            <a:chOff x="834575" y="1843074"/>
            <a:chExt cx="7565099" cy="1880075"/>
          </a:xfrm>
        </p:grpSpPr>
        <p:pic>
          <p:nvPicPr>
            <p:cNvPr id="93" name="Google Shape;9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575" y="1843074"/>
              <a:ext cx="7565099" cy="158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44725" y="3218325"/>
              <a:ext cx="1219199" cy="5048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" name="Google Shape;100;p8"/>
          <p:cNvSpPr txBox="1"/>
          <p:nvPr>
            <p:ph type="ctrTitle"/>
          </p:nvPr>
        </p:nvSpPr>
        <p:spPr>
          <a:xfrm>
            <a:off x="272650" y="417122"/>
            <a:ext cx="8292465" cy="49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350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How Much Does Our Model Explain?</a:t>
            </a:r>
            <a:endParaRPr sz="2500"/>
          </a:p>
        </p:txBody>
      </p:sp>
      <p:grpSp>
        <p:nvGrpSpPr>
          <p:cNvPr id="101" name="Google Shape;101;p8"/>
          <p:cNvGrpSpPr/>
          <p:nvPr/>
        </p:nvGrpSpPr>
        <p:grpSpPr>
          <a:xfrm>
            <a:off x="491412" y="2073587"/>
            <a:ext cx="7980675" cy="2478449"/>
            <a:chOff x="491412" y="2073587"/>
            <a:chExt cx="7980675" cy="2478449"/>
          </a:xfrm>
        </p:grpSpPr>
        <p:pic>
          <p:nvPicPr>
            <p:cNvPr id="102" name="Google Shape;102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44725" y="3218325"/>
              <a:ext cx="1219199" cy="50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1412" y="2073587"/>
              <a:ext cx="7980675" cy="24784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8"/>
          <p:cNvSpPr txBox="1"/>
          <p:nvPr/>
        </p:nvSpPr>
        <p:spPr>
          <a:xfrm>
            <a:off x="384725" y="1171831"/>
            <a:ext cx="780732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Instead of focusing on the error itself, we want to know what proportion of the change (or "variance") in our output is predictable from our inputs.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9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R-Square: How Much Better Are We Than The Average</a:t>
            </a:r>
            <a:endParaRPr sz="2500"/>
          </a:p>
        </p:txBody>
      </p:sp>
      <p:grpSp>
        <p:nvGrpSpPr>
          <p:cNvPr id="111" name="Google Shape;111;p9"/>
          <p:cNvGrpSpPr/>
          <p:nvPr/>
        </p:nvGrpSpPr>
        <p:grpSpPr>
          <a:xfrm>
            <a:off x="308525" y="1017724"/>
            <a:ext cx="8354649" cy="3249199"/>
            <a:chOff x="308525" y="1017724"/>
            <a:chExt cx="8354649" cy="3249199"/>
          </a:xfrm>
        </p:grpSpPr>
        <p:pic>
          <p:nvPicPr>
            <p:cNvPr id="112" name="Google Shape;11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44725" y="3218325"/>
              <a:ext cx="1219199" cy="50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8525" y="1017724"/>
              <a:ext cx="8354649" cy="32491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9"/>
          <p:cNvSpPr txBox="1"/>
          <p:nvPr/>
        </p:nvSpPr>
        <p:spPr>
          <a:xfrm>
            <a:off x="384725" y="4331314"/>
            <a:ext cx="792289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R-squared measures how much better the regression line is at explaining the data compared to the simple mean line.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" name="Google Shape;120;p10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Interpreting R-Square Score</a:t>
            </a:r>
            <a:endParaRPr sz="2500"/>
          </a:p>
        </p:txBody>
      </p:sp>
      <p:grpSp>
        <p:nvGrpSpPr>
          <p:cNvPr id="121" name="Google Shape;121;p10"/>
          <p:cNvGrpSpPr/>
          <p:nvPr/>
        </p:nvGrpSpPr>
        <p:grpSpPr>
          <a:xfrm>
            <a:off x="311700" y="2403825"/>
            <a:ext cx="8760099" cy="1643124"/>
            <a:chOff x="311700" y="2403825"/>
            <a:chExt cx="8760099" cy="1643124"/>
          </a:xfrm>
        </p:grpSpPr>
        <p:pic>
          <p:nvPicPr>
            <p:cNvPr id="122" name="Google Shape;12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44725" y="3218325"/>
              <a:ext cx="1219199" cy="50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1700" y="2403825"/>
              <a:ext cx="8760099" cy="16431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4" name="Google Shape;12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2150" y="4149400"/>
            <a:ext cx="8839199" cy="994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10"/>
          <p:cNvGrpSpPr/>
          <p:nvPr/>
        </p:nvGrpSpPr>
        <p:grpSpPr>
          <a:xfrm>
            <a:off x="0" y="1017725"/>
            <a:ext cx="9111349" cy="1283649"/>
            <a:chOff x="0" y="1017725"/>
            <a:chExt cx="9111349" cy="1283649"/>
          </a:xfrm>
        </p:grpSpPr>
        <p:pic>
          <p:nvPicPr>
            <p:cNvPr id="126" name="Google Shape;126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1047225"/>
              <a:ext cx="6839099" cy="1254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87155" y="1017725"/>
              <a:ext cx="2824194" cy="1254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" name="Google Shape;133;p11"/>
          <p:cNvSpPr txBox="1"/>
          <p:nvPr>
            <p:ph type="ctrTitle"/>
          </p:nvPr>
        </p:nvSpPr>
        <p:spPr>
          <a:xfrm>
            <a:off x="272650" y="417122"/>
            <a:ext cx="8292465" cy="49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350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Flaw: R² Never Decreases</a:t>
            </a:r>
            <a:endParaRPr sz="2500"/>
          </a:p>
        </p:txBody>
      </p:sp>
      <p:grpSp>
        <p:nvGrpSpPr>
          <p:cNvPr id="134" name="Google Shape;134;p11"/>
          <p:cNvGrpSpPr/>
          <p:nvPr/>
        </p:nvGrpSpPr>
        <p:grpSpPr>
          <a:xfrm>
            <a:off x="366725" y="1640050"/>
            <a:ext cx="8520599" cy="3503449"/>
            <a:chOff x="366725" y="1640050"/>
            <a:chExt cx="8520599" cy="3503449"/>
          </a:xfrm>
        </p:grpSpPr>
        <p:pic>
          <p:nvPicPr>
            <p:cNvPr id="135" name="Google Shape;135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44725" y="3218325"/>
              <a:ext cx="1219199" cy="504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6725" y="1640050"/>
              <a:ext cx="8520599" cy="35034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1"/>
          <p:cNvSpPr txBox="1"/>
          <p:nvPr/>
        </p:nvSpPr>
        <p:spPr>
          <a:xfrm>
            <a:off x="439749" y="1027664"/>
            <a:ext cx="760666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R² can only increase or stay the same when you add new variables to the model. It never goes down, even if the new variables are completely </a:t>
            </a:r>
            <a:r>
              <a:rPr b="1" lang="en-US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irrelevant</a:t>
            </a:r>
            <a:r>
              <a:rPr lang="en-US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Classification Model</a:t>
            </a:r>
            <a:endParaRPr sz="2500"/>
          </a:p>
        </p:txBody>
      </p:sp>
      <p:grpSp>
        <p:nvGrpSpPr>
          <p:cNvPr id="143" name="Google Shape;143;p12"/>
          <p:cNvGrpSpPr/>
          <p:nvPr/>
        </p:nvGrpSpPr>
        <p:grpSpPr>
          <a:xfrm>
            <a:off x="92475" y="1209475"/>
            <a:ext cx="8821600" cy="3817630"/>
            <a:chOff x="92475" y="1209475"/>
            <a:chExt cx="8821600" cy="3817630"/>
          </a:xfrm>
        </p:grpSpPr>
        <p:pic>
          <p:nvPicPr>
            <p:cNvPr id="144" name="Google Shape;14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16925" y="1209475"/>
              <a:ext cx="5697150" cy="3611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75" y="1389900"/>
              <a:ext cx="3203425" cy="2835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2"/>
            <p:cNvSpPr/>
            <p:nvPr/>
          </p:nvSpPr>
          <p:spPr>
            <a:xfrm>
              <a:off x="2788290" y="4224465"/>
              <a:ext cx="1791335" cy="802640"/>
            </a:xfrm>
            <a:custGeom>
              <a:rect b="b" l="l" r="r" t="t"/>
              <a:pathLst>
                <a:path extrusionOk="0" h="802639" w="1791335">
                  <a:moveTo>
                    <a:pt x="0" y="296511"/>
                  </a:moveTo>
                  <a:lnTo>
                    <a:pt x="158815" y="0"/>
                  </a:lnTo>
                  <a:lnTo>
                    <a:pt x="505061" y="191417"/>
                  </a:lnTo>
                  <a:lnTo>
                    <a:pt x="378796" y="217690"/>
                  </a:lnTo>
                  <a:lnTo>
                    <a:pt x="401592" y="254856"/>
                  </a:lnTo>
                  <a:lnTo>
                    <a:pt x="412115" y="270237"/>
                  </a:lnTo>
                  <a:lnTo>
                    <a:pt x="126265" y="270237"/>
                  </a:lnTo>
                  <a:lnTo>
                    <a:pt x="0" y="296511"/>
                  </a:lnTo>
                  <a:close/>
                </a:path>
                <a:path extrusionOk="0" h="802639" w="1791335">
                  <a:moveTo>
                    <a:pt x="1219173" y="802089"/>
                  </a:moveTo>
                  <a:lnTo>
                    <a:pt x="1166988" y="801959"/>
                  </a:lnTo>
                  <a:lnTo>
                    <a:pt x="1115244" y="800161"/>
                  </a:lnTo>
                  <a:lnTo>
                    <a:pt x="1063997" y="796717"/>
                  </a:lnTo>
                  <a:lnTo>
                    <a:pt x="1013300" y="791644"/>
                  </a:lnTo>
                  <a:lnTo>
                    <a:pt x="963210" y="784962"/>
                  </a:lnTo>
                  <a:lnTo>
                    <a:pt x="913781" y="776692"/>
                  </a:lnTo>
                  <a:lnTo>
                    <a:pt x="864782" y="766783"/>
                  </a:lnTo>
                  <a:lnTo>
                    <a:pt x="817129" y="755460"/>
                  </a:lnTo>
                  <a:lnTo>
                    <a:pt x="770016" y="742538"/>
                  </a:lnTo>
                  <a:lnTo>
                    <a:pt x="723784" y="728104"/>
                  </a:lnTo>
                  <a:lnTo>
                    <a:pt x="678491" y="712178"/>
                  </a:lnTo>
                  <a:lnTo>
                    <a:pt x="634189" y="694780"/>
                  </a:lnTo>
                  <a:lnTo>
                    <a:pt x="590935" y="675927"/>
                  </a:lnTo>
                  <a:lnTo>
                    <a:pt x="548784" y="655641"/>
                  </a:lnTo>
                  <a:lnTo>
                    <a:pt x="507791" y="633940"/>
                  </a:lnTo>
                  <a:lnTo>
                    <a:pt x="468011" y="610843"/>
                  </a:lnTo>
                  <a:lnTo>
                    <a:pt x="429499" y="586371"/>
                  </a:lnTo>
                  <a:lnTo>
                    <a:pt x="392310" y="560542"/>
                  </a:lnTo>
                  <a:lnTo>
                    <a:pt x="356500" y="533376"/>
                  </a:lnTo>
                  <a:lnTo>
                    <a:pt x="322124" y="504892"/>
                  </a:lnTo>
                  <a:lnTo>
                    <a:pt x="289236" y="475110"/>
                  </a:lnTo>
                  <a:lnTo>
                    <a:pt x="257893" y="444049"/>
                  </a:lnTo>
                  <a:lnTo>
                    <a:pt x="228148" y="411728"/>
                  </a:lnTo>
                  <a:lnTo>
                    <a:pt x="200058" y="378167"/>
                  </a:lnTo>
                  <a:lnTo>
                    <a:pt x="173677" y="343385"/>
                  </a:lnTo>
                  <a:lnTo>
                    <a:pt x="149061" y="307402"/>
                  </a:lnTo>
                  <a:lnTo>
                    <a:pt x="126265" y="270237"/>
                  </a:lnTo>
                  <a:lnTo>
                    <a:pt x="412115" y="270237"/>
                  </a:lnTo>
                  <a:lnTo>
                    <a:pt x="426208" y="290839"/>
                  </a:lnTo>
                  <a:lnTo>
                    <a:pt x="452589" y="325620"/>
                  </a:lnTo>
                  <a:lnTo>
                    <a:pt x="480679" y="359181"/>
                  </a:lnTo>
                  <a:lnTo>
                    <a:pt x="510424" y="391502"/>
                  </a:lnTo>
                  <a:lnTo>
                    <a:pt x="541767" y="422563"/>
                  </a:lnTo>
                  <a:lnTo>
                    <a:pt x="574655" y="452345"/>
                  </a:lnTo>
                  <a:lnTo>
                    <a:pt x="609031" y="480829"/>
                  </a:lnTo>
                  <a:lnTo>
                    <a:pt x="644841" y="507995"/>
                  </a:lnTo>
                  <a:lnTo>
                    <a:pt x="682030" y="533824"/>
                  </a:lnTo>
                  <a:lnTo>
                    <a:pt x="720542" y="558296"/>
                  </a:lnTo>
                  <a:lnTo>
                    <a:pt x="760322" y="581393"/>
                  </a:lnTo>
                  <a:lnTo>
                    <a:pt x="801315" y="603094"/>
                  </a:lnTo>
                  <a:lnTo>
                    <a:pt x="843466" y="623380"/>
                  </a:lnTo>
                  <a:lnTo>
                    <a:pt x="886720" y="642233"/>
                  </a:lnTo>
                  <a:lnTo>
                    <a:pt x="931021" y="659632"/>
                  </a:lnTo>
                  <a:lnTo>
                    <a:pt x="976315" y="675558"/>
                  </a:lnTo>
                  <a:lnTo>
                    <a:pt x="1022546" y="689991"/>
                  </a:lnTo>
                  <a:lnTo>
                    <a:pt x="1069660" y="702913"/>
                  </a:lnTo>
                  <a:lnTo>
                    <a:pt x="1117313" y="714236"/>
                  </a:lnTo>
                  <a:lnTo>
                    <a:pt x="1166312" y="724145"/>
                  </a:lnTo>
                  <a:lnTo>
                    <a:pt x="1215741" y="732416"/>
                  </a:lnTo>
                  <a:lnTo>
                    <a:pt x="1265831" y="739097"/>
                  </a:lnTo>
                  <a:lnTo>
                    <a:pt x="1316527" y="744170"/>
                  </a:lnTo>
                  <a:lnTo>
                    <a:pt x="1367775" y="747615"/>
                  </a:lnTo>
                  <a:lnTo>
                    <a:pt x="1419519" y="749412"/>
                  </a:lnTo>
                  <a:lnTo>
                    <a:pt x="1621306" y="749542"/>
                  </a:lnTo>
                  <a:lnTo>
                    <a:pt x="1538451" y="766783"/>
                  </a:lnTo>
                  <a:lnTo>
                    <a:pt x="1484779" y="777061"/>
                  </a:lnTo>
                  <a:lnTo>
                    <a:pt x="1431217" y="785555"/>
                  </a:lnTo>
                  <a:lnTo>
                    <a:pt x="1377821" y="792286"/>
                  </a:lnTo>
                  <a:lnTo>
                    <a:pt x="1324644" y="797272"/>
                  </a:lnTo>
                  <a:lnTo>
                    <a:pt x="1271743" y="800533"/>
                  </a:lnTo>
                  <a:lnTo>
                    <a:pt x="1219173" y="802089"/>
                  </a:lnTo>
                  <a:close/>
                </a:path>
                <a:path extrusionOk="0" h="802639" w="1791335">
                  <a:moveTo>
                    <a:pt x="1621306" y="749542"/>
                  </a:moveTo>
                  <a:lnTo>
                    <a:pt x="1471704" y="749542"/>
                  </a:lnTo>
                  <a:lnTo>
                    <a:pt x="1524274" y="747987"/>
                  </a:lnTo>
                  <a:lnTo>
                    <a:pt x="1577175" y="744725"/>
                  </a:lnTo>
                  <a:lnTo>
                    <a:pt x="1630351" y="739739"/>
                  </a:lnTo>
                  <a:lnTo>
                    <a:pt x="1683748" y="733008"/>
                  </a:lnTo>
                  <a:lnTo>
                    <a:pt x="1737310" y="724514"/>
                  </a:lnTo>
                  <a:lnTo>
                    <a:pt x="1790982" y="714236"/>
                  </a:lnTo>
                  <a:lnTo>
                    <a:pt x="1621306" y="74954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" name="Google Shape;147;p12"/>
            <p:cNvSpPr/>
            <p:nvPr/>
          </p:nvSpPr>
          <p:spPr>
            <a:xfrm>
              <a:off x="4452006" y="3659012"/>
              <a:ext cx="1229995" cy="1301750"/>
            </a:xfrm>
            <a:custGeom>
              <a:rect b="b" l="l" r="r" t="t"/>
              <a:pathLst>
                <a:path extrusionOk="0" h="1301750" w="1229995">
                  <a:moveTo>
                    <a:pt x="0" y="1301154"/>
                  </a:moveTo>
                  <a:lnTo>
                    <a:pt x="52413" y="1285091"/>
                  </a:lnTo>
                  <a:lnTo>
                    <a:pt x="103750" y="1267531"/>
                  </a:lnTo>
                  <a:lnTo>
                    <a:pt x="153979" y="1248520"/>
                  </a:lnTo>
                  <a:lnTo>
                    <a:pt x="203065" y="1228099"/>
                  </a:lnTo>
                  <a:lnTo>
                    <a:pt x="250974" y="1206315"/>
                  </a:lnTo>
                  <a:lnTo>
                    <a:pt x="297673" y="1183211"/>
                  </a:lnTo>
                  <a:lnTo>
                    <a:pt x="343127" y="1158830"/>
                  </a:lnTo>
                  <a:lnTo>
                    <a:pt x="387302" y="1133218"/>
                  </a:lnTo>
                  <a:lnTo>
                    <a:pt x="430165" y="1106417"/>
                  </a:lnTo>
                  <a:lnTo>
                    <a:pt x="471682" y="1078473"/>
                  </a:lnTo>
                  <a:lnTo>
                    <a:pt x="511819" y="1049429"/>
                  </a:lnTo>
                  <a:lnTo>
                    <a:pt x="550543" y="1019329"/>
                  </a:lnTo>
                  <a:lnTo>
                    <a:pt x="587818" y="988217"/>
                  </a:lnTo>
                  <a:lnTo>
                    <a:pt x="623612" y="956138"/>
                  </a:lnTo>
                  <a:lnTo>
                    <a:pt x="657890" y="923135"/>
                  </a:lnTo>
                  <a:lnTo>
                    <a:pt x="690619" y="889252"/>
                  </a:lnTo>
                  <a:lnTo>
                    <a:pt x="721765" y="854534"/>
                  </a:lnTo>
                  <a:lnTo>
                    <a:pt x="751293" y="819024"/>
                  </a:lnTo>
                  <a:lnTo>
                    <a:pt x="779171" y="782767"/>
                  </a:lnTo>
                  <a:lnTo>
                    <a:pt x="805364" y="745807"/>
                  </a:lnTo>
                  <a:lnTo>
                    <a:pt x="829838" y="708187"/>
                  </a:lnTo>
                  <a:lnTo>
                    <a:pt x="852559" y="669952"/>
                  </a:lnTo>
                  <a:lnTo>
                    <a:pt x="873494" y="631146"/>
                  </a:lnTo>
                  <a:lnTo>
                    <a:pt x="892609" y="591812"/>
                  </a:lnTo>
                  <a:lnTo>
                    <a:pt x="909869" y="551995"/>
                  </a:lnTo>
                  <a:lnTo>
                    <a:pt x="925241" y="511740"/>
                  </a:lnTo>
                  <a:lnTo>
                    <a:pt x="938692" y="471089"/>
                  </a:lnTo>
                  <a:lnTo>
                    <a:pt x="950186" y="430087"/>
                  </a:lnTo>
                  <a:lnTo>
                    <a:pt x="959691" y="388779"/>
                  </a:lnTo>
                  <a:lnTo>
                    <a:pt x="967173" y="347207"/>
                  </a:lnTo>
                  <a:lnTo>
                    <a:pt x="972596" y="305417"/>
                  </a:lnTo>
                  <a:lnTo>
                    <a:pt x="975929" y="263452"/>
                  </a:lnTo>
                  <a:lnTo>
                    <a:pt x="977136" y="221356"/>
                  </a:lnTo>
                  <a:lnTo>
                    <a:pt x="976245" y="181823"/>
                  </a:lnTo>
                  <a:lnTo>
                    <a:pt x="976185" y="179173"/>
                  </a:lnTo>
                  <a:lnTo>
                    <a:pt x="973040" y="136948"/>
                  </a:lnTo>
                  <a:lnTo>
                    <a:pt x="967669" y="94724"/>
                  </a:lnTo>
                  <a:lnTo>
                    <a:pt x="960037" y="52546"/>
                  </a:lnTo>
                  <a:lnTo>
                    <a:pt x="1212568" y="0"/>
                  </a:lnTo>
                  <a:lnTo>
                    <a:pt x="1220634" y="45149"/>
                  </a:lnTo>
                  <a:lnTo>
                    <a:pt x="1226109" y="90546"/>
                  </a:lnTo>
                  <a:lnTo>
                    <a:pt x="1229013" y="136126"/>
                  </a:lnTo>
                  <a:lnTo>
                    <a:pt x="1229347" y="179173"/>
                  </a:lnTo>
                  <a:lnTo>
                    <a:pt x="1229368" y="181823"/>
                  </a:lnTo>
                  <a:lnTo>
                    <a:pt x="1227194" y="227571"/>
                  </a:lnTo>
                  <a:lnTo>
                    <a:pt x="1222512" y="273305"/>
                  </a:lnTo>
                  <a:lnTo>
                    <a:pt x="1215345" y="318959"/>
                  </a:lnTo>
                  <a:lnTo>
                    <a:pt x="1205712" y="364469"/>
                  </a:lnTo>
                  <a:lnTo>
                    <a:pt x="1193635" y="409767"/>
                  </a:lnTo>
                  <a:lnTo>
                    <a:pt x="1179136" y="454789"/>
                  </a:lnTo>
                  <a:lnTo>
                    <a:pt x="1162234" y="499469"/>
                  </a:lnTo>
                  <a:lnTo>
                    <a:pt x="1142952" y="543742"/>
                  </a:lnTo>
                  <a:lnTo>
                    <a:pt x="1121310" y="587541"/>
                  </a:lnTo>
                  <a:lnTo>
                    <a:pt x="1097330" y="630802"/>
                  </a:lnTo>
                  <a:lnTo>
                    <a:pt x="1071032" y="673458"/>
                  </a:lnTo>
                  <a:lnTo>
                    <a:pt x="1042439" y="715445"/>
                  </a:lnTo>
                  <a:lnTo>
                    <a:pt x="1011570" y="756697"/>
                  </a:lnTo>
                  <a:lnTo>
                    <a:pt x="978447" y="797147"/>
                  </a:lnTo>
                  <a:lnTo>
                    <a:pt x="943091" y="836731"/>
                  </a:lnTo>
                  <a:lnTo>
                    <a:pt x="910915" y="870030"/>
                  </a:lnTo>
                  <a:lnTo>
                    <a:pt x="877403" y="902325"/>
                  </a:lnTo>
                  <a:lnTo>
                    <a:pt x="842603" y="933591"/>
                  </a:lnTo>
                  <a:lnTo>
                    <a:pt x="806563" y="963806"/>
                  </a:lnTo>
                  <a:lnTo>
                    <a:pt x="769330" y="992946"/>
                  </a:lnTo>
                  <a:lnTo>
                    <a:pt x="730952" y="1020987"/>
                  </a:lnTo>
                  <a:lnTo>
                    <a:pt x="691477" y="1047907"/>
                  </a:lnTo>
                  <a:lnTo>
                    <a:pt x="650951" y="1073682"/>
                  </a:lnTo>
                  <a:lnTo>
                    <a:pt x="609423" y="1098288"/>
                  </a:lnTo>
                  <a:lnTo>
                    <a:pt x="566940" y="1121702"/>
                  </a:lnTo>
                  <a:lnTo>
                    <a:pt x="523550" y="1143900"/>
                  </a:lnTo>
                  <a:lnTo>
                    <a:pt x="479300" y="1164860"/>
                  </a:lnTo>
                  <a:lnTo>
                    <a:pt x="434239" y="1184557"/>
                  </a:lnTo>
                  <a:lnTo>
                    <a:pt x="388413" y="1202968"/>
                  </a:lnTo>
                  <a:lnTo>
                    <a:pt x="341870" y="1220070"/>
                  </a:lnTo>
                  <a:lnTo>
                    <a:pt x="294658" y="1235839"/>
                  </a:lnTo>
                  <a:lnTo>
                    <a:pt x="246824" y="1250252"/>
                  </a:lnTo>
                  <a:lnTo>
                    <a:pt x="198417" y="1263286"/>
                  </a:lnTo>
                  <a:lnTo>
                    <a:pt x="149483" y="1274916"/>
                  </a:lnTo>
                  <a:lnTo>
                    <a:pt x="100210" y="1285091"/>
                  </a:lnTo>
                  <a:lnTo>
                    <a:pt x="50227" y="1293874"/>
                  </a:lnTo>
                  <a:lnTo>
                    <a:pt x="0" y="1301154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" name="Google Shape;148;p12"/>
            <p:cNvSpPr/>
            <p:nvPr/>
          </p:nvSpPr>
          <p:spPr>
            <a:xfrm>
              <a:off x="2788290" y="3659012"/>
              <a:ext cx="2893695" cy="1367790"/>
            </a:xfrm>
            <a:custGeom>
              <a:rect b="b" l="l" r="r" t="t"/>
              <a:pathLst>
                <a:path extrusionOk="0" h="1367789" w="2893695">
                  <a:moveTo>
                    <a:pt x="1663715" y="1301154"/>
                  </a:moveTo>
                  <a:lnTo>
                    <a:pt x="1716129" y="1285091"/>
                  </a:lnTo>
                  <a:lnTo>
                    <a:pt x="1767466" y="1267531"/>
                  </a:lnTo>
                  <a:lnTo>
                    <a:pt x="1817695" y="1248520"/>
                  </a:lnTo>
                  <a:lnTo>
                    <a:pt x="1866781" y="1228099"/>
                  </a:lnTo>
                  <a:lnTo>
                    <a:pt x="1914690" y="1206315"/>
                  </a:lnTo>
                  <a:lnTo>
                    <a:pt x="1961389" y="1183211"/>
                  </a:lnTo>
                  <a:lnTo>
                    <a:pt x="2006843" y="1158830"/>
                  </a:lnTo>
                  <a:lnTo>
                    <a:pt x="2051018" y="1133218"/>
                  </a:lnTo>
                  <a:lnTo>
                    <a:pt x="2093881" y="1106417"/>
                  </a:lnTo>
                  <a:lnTo>
                    <a:pt x="2135398" y="1078473"/>
                  </a:lnTo>
                  <a:lnTo>
                    <a:pt x="2175535" y="1049429"/>
                  </a:lnTo>
                  <a:lnTo>
                    <a:pt x="2214259" y="1019329"/>
                  </a:lnTo>
                  <a:lnTo>
                    <a:pt x="2251534" y="988217"/>
                  </a:lnTo>
                  <a:lnTo>
                    <a:pt x="2287328" y="956138"/>
                  </a:lnTo>
                  <a:lnTo>
                    <a:pt x="2321606" y="923135"/>
                  </a:lnTo>
                  <a:lnTo>
                    <a:pt x="2354335" y="889252"/>
                  </a:lnTo>
                  <a:lnTo>
                    <a:pt x="2385481" y="854534"/>
                  </a:lnTo>
                  <a:lnTo>
                    <a:pt x="2415009" y="819024"/>
                  </a:lnTo>
                  <a:lnTo>
                    <a:pt x="2442887" y="782767"/>
                  </a:lnTo>
                  <a:lnTo>
                    <a:pt x="2469080" y="745807"/>
                  </a:lnTo>
                  <a:lnTo>
                    <a:pt x="2493554" y="708187"/>
                  </a:lnTo>
                  <a:lnTo>
                    <a:pt x="2516275" y="669952"/>
                  </a:lnTo>
                  <a:lnTo>
                    <a:pt x="2537210" y="631146"/>
                  </a:lnTo>
                  <a:lnTo>
                    <a:pt x="2556325" y="591812"/>
                  </a:lnTo>
                  <a:lnTo>
                    <a:pt x="2573585" y="551995"/>
                  </a:lnTo>
                  <a:lnTo>
                    <a:pt x="2588957" y="511740"/>
                  </a:lnTo>
                  <a:lnTo>
                    <a:pt x="2602408" y="471089"/>
                  </a:lnTo>
                  <a:lnTo>
                    <a:pt x="2613902" y="430087"/>
                  </a:lnTo>
                  <a:lnTo>
                    <a:pt x="2623407" y="388779"/>
                  </a:lnTo>
                  <a:lnTo>
                    <a:pt x="2630889" y="347207"/>
                  </a:lnTo>
                  <a:lnTo>
                    <a:pt x="2636312" y="305417"/>
                  </a:lnTo>
                  <a:lnTo>
                    <a:pt x="2639645" y="263452"/>
                  </a:lnTo>
                  <a:lnTo>
                    <a:pt x="2640852" y="221356"/>
                  </a:lnTo>
                  <a:lnTo>
                    <a:pt x="2639901" y="179173"/>
                  </a:lnTo>
                  <a:lnTo>
                    <a:pt x="2636756" y="136948"/>
                  </a:lnTo>
                  <a:lnTo>
                    <a:pt x="2631385" y="94724"/>
                  </a:lnTo>
                  <a:lnTo>
                    <a:pt x="2623753" y="52546"/>
                  </a:lnTo>
                  <a:lnTo>
                    <a:pt x="2876284" y="0"/>
                  </a:lnTo>
                  <a:lnTo>
                    <a:pt x="2883872" y="41861"/>
                  </a:lnTo>
                  <a:lnTo>
                    <a:pt x="2889237" y="83737"/>
                  </a:lnTo>
                  <a:lnTo>
                    <a:pt x="2892414" y="125588"/>
                  </a:lnTo>
                  <a:lnTo>
                    <a:pt x="2893438" y="167371"/>
                  </a:lnTo>
                  <a:lnTo>
                    <a:pt x="2892345" y="209047"/>
                  </a:lnTo>
                  <a:lnTo>
                    <a:pt x="2889168" y="250573"/>
                  </a:lnTo>
                  <a:lnTo>
                    <a:pt x="2883943" y="291909"/>
                  </a:lnTo>
                  <a:lnTo>
                    <a:pt x="2876704" y="333013"/>
                  </a:lnTo>
                  <a:lnTo>
                    <a:pt x="2867487" y="373844"/>
                  </a:lnTo>
                  <a:lnTo>
                    <a:pt x="2856327" y="414362"/>
                  </a:lnTo>
                  <a:lnTo>
                    <a:pt x="2843258" y="454524"/>
                  </a:lnTo>
                  <a:lnTo>
                    <a:pt x="2828316" y="494290"/>
                  </a:lnTo>
                  <a:lnTo>
                    <a:pt x="2811535" y="533618"/>
                  </a:lnTo>
                  <a:lnTo>
                    <a:pt x="2792950" y="572468"/>
                  </a:lnTo>
                  <a:lnTo>
                    <a:pt x="2772596" y="610798"/>
                  </a:lnTo>
                  <a:lnTo>
                    <a:pt x="2750508" y="648567"/>
                  </a:lnTo>
                  <a:lnTo>
                    <a:pt x="2726721" y="685733"/>
                  </a:lnTo>
                  <a:lnTo>
                    <a:pt x="2701270" y="722257"/>
                  </a:lnTo>
                  <a:lnTo>
                    <a:pt x="2674190" y="758096"/>
                  </a:lnTo>
                  <a:lnTo>
                    <a:pt x="2645515" y="793209"/>
                  </a:lnTo>
                  <a:lnTo>
                    <a:pt x="2615281" y="827556"/>
                  </a:lnTo>
                  <a:lnTo>
                    <a:pt x="2583523" y="861094"/>
                  </a:lnTo>
                  <a:lnTo>
                    <a:pt x="2550275" y="893783"/>
                  </a:lnTo>
                  <a:lnTo>
                    <a:pt x="2515572" y="925582"/>
                  </a:lnTo>
                  <a:lnTo>
                    <a:pt x="2479449" y="956450"/>
                  </a:lnTo>
                  <a:lnTo>
                    <a:pt x="2441942" y="986345"/>
                  </a:lnTo>
                  <a:lnTo>
                    <a:pt x="2403085" y="1015226"/>
                  </a:lnTo>
                  <a:lnTo>
                    <a:pt x="2362912" y="1043052"/>
                  </a:lnTo>
                  <a:lnTo>
                    <a:pt x="2321460" y="1069782"/>
                  </a:lnTo>
                  <a:lnTo>
                    <a:pt x="2278762" y="1095374"/>
                  </a:lnTo>
                  <a:lnTo>
                    <a:pt x="2234854" y="1119788"/>
                  </a:lnTo>
                  <a:lnTo>
                    <a:pt x="2189771" y="1142982"/>
                  </a:lnTo>
                  <a:lnTo>
                    <a:pt x="2143547" y="1164916"/>
                  </a:lnTo>
                  <a:lnTo>
                    <a:pt x="2096218" y="1185548"/>
                  </a:lnTo>
                  <a:lnTo>
                    <a:pt x="2047818" y="1204836"/>
                  </a:lnTo>
                  <a:lnTo>
                    <a:pt x="1998383" y="1222740"/>
                  </a:lnTo>
                  <a:lnTo>
                    <a:pt x="1947946" y="1239218"/>
                  </a:lnTo>
                  <a:lnTo>
                    <a:pt x="1896544" y="1254230"/>
                  </a:lnTo>
                  <a:lnTo>
                    <a:pt x="1844211" y="1267734"/>
                  </a:lnTo>
                  <a:lnTo>
                    <a:pt x="1790982" y="1279689"/>
                  </a:lnTo>
                  <a:lnTo>
                    <a:pt x="1538451" y="1332236"/>
                  </a:lnTo>
                  <a:lnTo>
                    <a:pt x="1484779" y="1342514"/>
                  </a:lnTo>
                  <a:lnTo>
                    <a:pt x="1431217" y="1351008"/>
                  </a:lnTo>
                  <a:lnTo>
                    <a:pt x="1377821" y="1357739"/>
                  </a:lnTo>
                  <a:lnTo>
                    <a:pt x="1324644" y="1362725"/>
                  </a:lnTo>
                  <a:lnTo>
                    <a:pt x="1271743" y="1365986"/>
                  </a:lnTo>
                  <a:lnTo>
                    <a:pt x="1219173" y="1367542"/>
                  </a:lnTo>
                  <a:lnTo>
                    <a:pt x="1166988" y="1367412"/>
                  </a:lnTo>
                  <a:lnTo>
                    <a:pt x="1115244" y="1365614"/>
                  </a:lnTo>
                  <a:lnTo>
                    <a:pt x="1063997" y="1362170"/>
                  </a:lnTo>
                  <a:lnTo>
                    <a:pt x="1013300" y="1357097"/>
                  </a:lnTo>
                  <a:lnTo>
                    <a:pt x="963210" y="1350415"/>
                  </a:lnTo>
                  <a:lnTo>
                    <a:pt x="913781" y="1342145"/>
                  </a:lnTo>
                  <a:lnTo>
                    <a:pt x="865069" y="1332304"/>
                  </a:lnTo>
                  <a:lnTo>
                    <a:pt x="817129" y="1320913"/>
                  </a:lnTo>
                  <a:lnTo>
                    <a:pt x="770016" y="1307991"/>
                  </a:lnTo>
                  <a:lnTo>
                    <a:pt x="723784" y="1293557"/>
                  </a:lnTo>
                  <a:lnTo>
                    <a:pt x="678491" y="1277631"/>
                  </a:lnTo>
                  <a:lnTo>
                    <a:pt x="634189" y="1260233"/>
                  </a:lnTo>
                  <a:lnTo>
                    <a:pt x="590935" y="1241380"/>
                  </a:lnTo>
                  <a:lnTo>
                    <a:pt x="548784" y="1221094"/>
                  </a:lnTo>
                  <a:lnTo>
                    <a:pt x="507791" y="1199393"/>
                  </a:lnTo>
                  <a:lnTo>
                    <a:pt x="468011" y="1176296"/>
                  </a:lnTo>
                  <a:lnTo>
                    <a:pt x="429499" y="1151824"/>
                  </a:lnTo>
                  <a:lnTo>
                    <a:pt x="392310" y="1125995"/>
                  </a:lnTo>
                  <a:lnTo>
                    <a:pt x="356500" y="1098829"/>
                  </a:lnTo>
                  <a:lnTo>
                    <a:pt x="322124" y="1070345"/>
                  </a:lnTo>
                  <a:lnTo>
                    <a:pt x="289236" y="1040563"/>
                  </a:lnTo>
                  <a:lnTo>
                    <a:pt x="257893" y="1009502"/>
                  </a:lnTo>
                  <a:lnTo>
                    <a:pt x="228148" y="977181"/>
                  </a:lnTo>
                  <a:lnTo>
                    <a:pt x="200058" y="943620"/>
                  </a:lnTo>
                  <a:lnTo>
                    <a:pt x="173677" y="908838"/>
                  </a:lnTo>
                  <a:lnTo>
                    <a:pt x="149061" y="872855"/>
                  </a:lnTo>
                  <a:lnTo>
                    <a:pt x="126265" y="835690"/>
                  </a:lnTo>
                  <a:lnTo>
                    <a:pt x="0" y="861964"/>
                  </a:lnTo>
                  <a:lnTo>
                    <a:pt x="158815" y="565452"/>
                  </a:lnTo>
                  <a:lnTo>
                    <a:pt x="505061" y="756870"/>
                  </a:lnTo>
                  <a:lnTo>
                    <a:pt x="378796" y="783143"/>
                  </a:lnTo>
                  <a:lnTo>
                    <a:pt x="401592" y="820309"/>
                  </a:lnTo>
                  <a:lnTo>
                    <a:pt x="426208" y="856292"/>
                  </a:lnTo>
                  <a:lnTo>
                    <a:pt x="452589" y="891073"/>
                  </a:lnTo>
                  <a:lnTo>
                    <a:pt x="480679" y="924634"/>
                  </a:lnTo>
                  <a:lnTo>
                    <a:pt x="510424" y="956955"/>
                  </a:lnTo>
                  <a:lnTo>
                    <a:pt x="541767" y="988016"/>
                  </a:lnTo>
                  <a:lnTo>
                    <a:pt x="574655" y="1017798"/>
                  </a:lnTo>
                  <a:lnTo>
                    <a:pt x="609031" y="1046282"/>
                  </a:lnTo>
                  <a:lnTo>
                    <a:pt x="644841" y="1073448"/>
                  </a:lnTo>
                  <a:lnTo>
                    <a:pt x="682030" y="1099277"/>
                  </a:lnTo>
                  <a:lnTo>
                    <a:pt x="720542" y="1123749"/>
                  </a:lnTo>
                  <a:lnTo>
                    <a:pt x="760322" y="1146846"/>
                  </a:lnTo>
                  <a:lnTo>
                    <a:pt x="801315" y="1168547"/>
                  </a:lnTo>
                  <a:lnTo>
                    <a:pt x="843466" y="1188833"/>
                  </a:lnTo>
                  <a:lnTo>
                    <a:pt x="886720" y="1207686"/>
                  </a:lnTo>
                  <a:lnTo>
                    <a:pt x="931021" y="1225085"/>
                  </a:lnTo>
                  <a:lnTo>
                    <a:pt x="976315" y="1241011"/>
                  </a:lnTo>
                  <a:lnTo>
                    <a:pt x="1022546" y="1255444"/>
                  </a:lnTo>
                  <a:lnTo>
                    <a:pt x="1069660" y="1268366"/>
                  </a:lnTo>
                  <a:lnTo>
                    <a:pt x="1117600" y="1279757"/>
                  </a:lnTo>
                  <a:lnTo>
                    <a:pt x="1166312" y="1289598"/>
                  </a:lnTo>
                  <a:lnTo>
                    <a:pt x="1215741" y="1297869"/>
                  </a:lnTo>
                  <a:lnTo>
                    <a:pt x="1265831" y="1304550"/>
                  </a:lnTo>
                  <a:lnTo>
                    <a:pt x="1316527" y="1309623"/>
                  </a:lnTo>
                  <a:lnTo>
                    <a:pt x="1367775" y="1313068"/>
                  </a:lnTo>
                  <a:lnTo>
                    <a:pt x="1419519" y="1314865"/>
                  </a:lnTo>
                  <a:lnTo>
                    <a:pt x="1471704" y="1314995"/>
                  </a:lnTo>
                  <a:lnTo>
                    <a:pt x="1524274" y="1313440"/>
                  </a:lnTo>
                  <a:lnTo>
                    <a:pt x="1577175" y="1310178"/>
                  </a:lnTo>
                  <a:lnTo>
                    <a:pt x="1630351" y="1305192"/>
                  </a:lnTo>
                  <a:lnTo>
                    <a:pt x="1683748" y="1298461"/>
                  </a:lnTo>
                  <a:lnTo>
                    <a:pt x="1737310" y="1289967"/>
                  </a:lnTo>
                  <a:lnTo>
                    <a:pt x="1790982" y="1279689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Accuracy</a:t>
            </a:r>
            <a:endParaRPr sz="2500"/>
          </a:p>
        </p:txBody>
      </p:sp>
      <p:pic>
        <p:nvPicPr>
          <p:cNvPr id="154" name="Google Shape;1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374" y="1489775"/>
            <a:ext cx="8459200" cy="187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4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" name="Google Shape;160;p14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Accuracy Cont.</a:t>
            </a:r>
            <a:endParaRPr sz="2500"/>
          </a:p>
        </p:txBody>
      </p:sp>
      <p:sp>
        <p:nvSpPr>
          <p:cNvPr id="161" name="Google Shape;161;p14"/>
          <p:cNvSpPr txBox="1"/>
          <p:nvPr/>
        </p:nvSpPr>
        <p:spPr>
          <a:xfrm>
            <a:off x="384725" y="4670456"/>
            <a:ext cx="61880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Logistic Regression Accuracy: 8 Correct / 10 Total = 80%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17724"/>
            <a:ext cx="7199554" cy="350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4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8" name="Google Shape;168;p15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Accuracy on Imbalanced Data</a:t>
            </a:r>
            <a:endParaRPr sz="2500"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384725" y="1216355"/>
            <a:ext cx="82423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0" lvl="0" marL="12700" marR="107950" rtl="0" algn="l">
              <a:lnSpc>
                <a:spcPct val="12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Accuracy is most misleading when dealing with imbalanced datasets, where one class is far more common than the other.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6395" lvl="0" marL="4692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/>
              <a:t>Scenario: Airport Terrorist Screening</a:t>
            </a:r>
            <a:endParaRPr/>
          </a:p>
          <a:p>
            <a:pPr indent="-335914" lvl="1" marL="926464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 a dataset of 100,000 passengers, there is 1 terrorist.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1" marL="926464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Data Balance: 99,999 'Normal' vs. 1 'Terrorist'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7030" lvl="0" marL="469900" marR="5080" rtl="0" algn="l">
              <a:lnSpc>
                <a:spcPct val="126111"/>
              </a:lnSpc>
              <a:spcBef>
                <a:spcPts val="5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/>
              <a:t>Now, consider a 'dumb' model with one simple rule: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Predict that no one is a terrorist.</a:t>
            </a:r>
            <a:endParaRPr/>
          </a:p>
          <a:p>
            <a:pPr indent="-366395" lvl="0" marL="469265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/>
              <a:t>Accuracy Score: 99,999 / 100,000 =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99.999%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67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Why 99% Accuracy Can Be a Total Failure</a:t>
            </a:r>
            <a:endParaRPr sz="2500"/>
          </a:p>
        </p:txBody>
      </p:sp>
      <p:pic>
        <p:nvPicPr>
          <p:cNvPr id="175" name="Google Shape;1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17724"/>
            <a:ext cx="914400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type="ctrTitle"/>
          </p:nvPr>
        </p:nvSpPr>
        <p:spPr>
          <a:xfrm>
            <a:off x="272650" y="417122"/>
            <a:ext cx="8292465" cy="49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350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Confusion Matrix</a:t>
            </a:r>
            <a:endParaRPr sz="2500"/>
          </a:p>
        </p:txBody>
      </p:sp>
      <p:sp>
        <p:nvSpPr>
          <p:cNvPr id="181" name="Google Shape;181;p17"/>
          <p:cNvSpPr txBox="1"/>
          <p:nvPr/>
        </p:nvSpPr>
        <p:spPr>
          <a:xfrm>
            <a:off x="384725" y="1216355"/>
            <a:ext cx="79546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Beyond a Single Score we need to know the </a:t>
            </a: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nature of our models mistakes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775" y="1727500"/>
            <a:ext cx="8440525" cy="314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Confusion Matrix: Heart Disease Example</a:t>
            </a:r>
            <a:endParaRPr sz="2500"/>
          </a:p>
        </p:txBody>
      </p:sp>
      <p:grpSp>
        <p:nvGrpSpPr>
          <p:cNvPr id="188" name="Google Shape;188;p18"/>
          <p:cNvGrpSpPr/>
          <p:nvPr/>
        </p:nvGrpSpPr>
        <p:grpSpPr>
          <a:xfrm>
            <a:off x="0" y="995254"/>
            <a:ext cx="9071049" cy="4063069"/>
            <a:chOff x="0" y="995254"/>
            <a:chExt cx="9071049" cy="4063069"/>
          </a:xfrm>
        </p:grpSpPr>
        <p:pic>
          <p:nvPicPr>
            <p:cNvPr id="189" name="Google Shape;18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95254"/>
              <a:ext cx="9071049" cy="40630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62225" y="3508765"/>
              <a:ext cx="288349" cy="171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50249" y="3718089"/>
              <a:ext cx="1302424" cy="8270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18"/>
            <p:cNvSpPr/>
            <p:nvPr/>
          </p:nvSpPr>
          <p:spPr>
            <a:xfrm>
              <a:off x="5929528" y="3020085"/>
              <a:ext cx="1235710" cy="910590"/>
            </a:xfrm>
            <a:custGeom>
              <a:rect b="b" l="l" r="r" t="t"/>
              <a:pathLst>
                <a:path extrusionOk="0" h="910589" w="1235709">
                  <a:moveTo>
                    <a:pt x="1235296" y="91049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5894733" y="2994438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25460" y="38310"/>
                  </a:moveTo>
                  <a:lnTo>
                    <a:pt x="0" y="0"/>
                  </a:lnTo>
                  <a:lnTo>
                    <a:pt x="44129" y="12981"/>
                  </a:lnTo>
                  <a:lnTo>
                    <a:pt x="25460" y="3831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5894733" y="2994438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4129" y="12981"/>
                  </a:moveTo>
                  <a:lnTo>
                    <a:pt x="0" y="0"/>
                  </a:lnTo>
                  <a:lnTo>
                    <a:pt x="25460" y="38310"/>
                  </a:lnTo>
                  <a:lnTo>
                    <a:pt x="44129" y="12981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Confusion Matrix Cont.</a:t>
            </a:r>
            <a:endParaRPr sz="2500"/>
          </a:p>
        </p:txBody>
      </p:sp>
      <p:grpSp>
        <p:nvGrpSpPr>
          <p:cNvPr id="200" name="Google Shape;200;p19"/>
          <p:cNvGrpSpPr/>
          <p:nvPr/>
        </p:nvGrpSpPr>
        <p:grpSpPr>
          <a:xfrm>
            <a:off x="199625" y="1060975"/>
            <a:ext cx="8789723" cy="3649999"/>
            <a:chOff x="199625" y="1060975"/>
            <a:chExt cx="8789723" cy="3649999"/>
          </a:xfrm>
        </p:grpSpPr>
        <p:pic>
          <p:nvPicPr>
            <p:cNvPr id="201" name="Google Shape;20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9625" y="1060975"/>
              <a:ext cx="8789723" cy="3526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99400" y="4005450"/>
              <a:ext cx="3820825" cy="7055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27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When accuracy fails, we must ask more precise questions.</a:t>
            </a:r>
            <a:endParaRPr sz="2500"/>
          </a:p>
        </p:txBody>
      </p:sp>
      <p:grpSp>
        <p:nvGrpSpPr>
          <p:cNvPr id="208" name="Google Shape;208;p20"/>
          <p:cNvGrpSpPr/>
          <p:nvPr/>
        </p:nvGrpSpPr>
        <p:grpSpPr>
          <a:xfrm>
            <a:off x="178449" y="3422725"/>
            <a:ext cx="8965550" cy="1288250"/>
            <a:chOff x="178449" y="3422725"/>
            <a:chExt cx="8965550" cy="1288250"/>
          </a:xfrm>
        </p:grpSpPr>
        <p:pic>
          <p:nvPicPr>
            <p:cNvPr id="209" name="Google Shape;20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99400" y="4005451"/>
              <a:ext cx="3820825" cy="705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8449" y="3422725"/>
              <a:ext cx="4653525" cy="705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86300" y="3422725"/>
              <a:ext cx="4457699" cy="7443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0"/>
          <p:cNvSpPr txBox="1"/>
          <p:nvPr/>
        </p:nvSpPr>
        <p:spPr>
          <a:xfrm>
            <a:off x="505993" y="1186383"/>
            <a:ext cx="316674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6550" lvl="0" marL="34861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 all the items we predicted as positive, how many were </a:t>
            </a:r>
            <a:r>
              <a:rPr b="1" lang="en-US" sz="140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actually positive </a:t>
            </a: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05993" y="2472639"/>
            <a:ext cx="3462654" cy="51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6550" lvl="0" marL="34861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PRECISION: </a:t>
            </a: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Measures the reliability of our positive predictions.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947818" y="1186383"/>
            <a:ext cx="32226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4010" lvl="0" marL="346075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 all the items that were actually 	positive, how many did our model 	</a:t>
            </a:r>
            <a:r>
              <a:rPr b="1" lang="en-US" sz="140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correctly Identified </a:t>
            </a: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947818" y="2472639"/>
            <a:ext cx="3522345" cy="51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6550" lvl="0" marL="34861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RECALL: </a:t>
            </a: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Measures how completely we find all positives.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ctrTitle"/>
          </p:nvPr>
        </p:nvSpPr>
        <p:spPr>
          <a:xfrm>
            <a:off x="272650" y="417122"/>
            <a:ext cx="8292465" cy="49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Case Study 1: Prioritizing 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Precision </a:t>
            </a:r>
            <a:r>
              <a:rPr lang="en-US" sz="2100"/>
              <a:t>when False Positives are costly.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21"/>
          <p:cNvGrpSpPr/>
          <p:nvPr/>
        </p:nvGrpSpPr>
        <p:grpSpPr>
          <a:xfrm>
            <a:off x="121567" y="874948"/>
            <a:ext cx="8814108" cy="4026501"/>
            <a:chOff x="121567" y="874948"/>
            <a:chExt cx="8814108" cy="4026501"/>
          </a:xfrm>
        </p:grpSpPr>
        <p:pic>
          <p:nvPicPr>
            <p:cNvPr id="222" name="Google Shape;22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775" y="1024224"/>
              <a:ext cx="8802900" cy="387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1567" y="874948"/>
              <a:ext cx="1391774" cy="448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4" name="Google Shape;224;p21"/>
          <p:cNvSpPr txBox="1"/>
          <p:nvPr/>
        </p:nvSpPr>
        <p:spPr>
          <a:xfrm>
            <a:off x="456277" y="1054470"/>
            <a:ext cx="10039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Precision Cont.</a:t>
            </a:r>
            <a:endParaRPr sz="2100"/>
          </a:p>
        </p:txBody>
      </p:sp>
      <p:pic>
        <p:nvPicPr>
          <p:cNvPr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087" y="1046624"/>
            <a:ext cx="8567825" cy="394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>
            <p:ph type="ctrTitle"/>
          </p:nvPr>
        </p:nvSpPr>
        <p:spPr>
          <a:xfrm>
            <a:off x="272650" y="417122"/>
            <a:ext cx="8292465" cy="49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Case Study 2: Prioritizing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Recall </a:t>
            </a:r>
            <a:r>
              <a:rPr lang="en-US" sz="2200"/>
              <a:t>when False Negatives are costly.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99625" y="1046838"/>
            <a:ext cx="8778523" cy="3820986"/>
            <a:chOff x="199625" y="1046838"/>
            <a:chExt cx="8778523" cy="3820986"/>
          </a:xfrm>
        </p:grpSpPr>
        <p:pic>
          <p:nvPicPr>
            <p:cNvPr id="237" name="Google Shape;237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9625" y="1046838"/>
              <a:ext cx="8778523" cy="38209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6954" y="1105187"/>
              <a:ext cx="1243624" cy="2411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23"/>
          <p:cNvSpPr txBox="1"/>
          <p:nvPr/>
        </p:nvSpPr>
        <p:spPr>
          <a:xfrm>
            <a:off x="296303" y="1064781"/>
            <a:ext cx="10166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Recall Cont.</a:t>
            </a:r>
            <a:endParaRPr sz="2100"/>
          </a:p>
        </p:txBody>
      </p:sp>
      <p:pic>
        <p:nvPicPr>
          <p:cNvPr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625" y="1181099"/>
            <a:ext cx="8722499" cy="365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challenge: Increasing Precision often reduces Recall and vice-versa.</a:t>
            </a:r>
            <a:endParaRPr/>
          </a:p>
        </p:txBody>
      </p:sp>
      <p:pic>
        <p:nvPicPr>
          <p:cNvPr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775" y="1225925"/>
            <a:ext cx="8673350" cy="360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4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7" name="Google Shape;257;p26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82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F1-Score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475249" y="1216355"/>
            <a:ext cx="53701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F1 is the </a:t>
            </a: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harmonic mean 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 precision and recall.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1912274"/>
            <a:ext cx="7832900" cy="195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4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5" name="Google Shape;265;p27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82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F1-Score cont.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475249" y="1118809"/>
            <a:ext cx="7759065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F1 is the </a:t>
            </a: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harmonic mean 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 precision and recall, </a:t>
            </a: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not a simple average.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HM penalizes extreme imbalance between Precision and Recall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99144"/>
            <a:ext cx="9143999" cy="3293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6F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3" name="Google Shape;273;p28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82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Optimal Threshold For Binary Classification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475249" y="956925"/>
            <a:ext cx="16116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ROC Curve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724" y="1298150"/>
            <a:ext cx="7984084" cy="384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9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82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True Positive Rate (TPR): Benefit</a:t>
            </a:r>
            <a:endParaRPr/>
          </a:p>
        </p:txBody>
      </p:sp>
      <p:sp>
        <p:nvSpPr>
          <p:cNvPr id="282" name="Google Shape;282;p29"/>
          <p:cNvSpPr txBox="1"/>
          <p:nvPr/>
        </p:nvSpPr>
        <p:spPr>
          <a:xfrm>
            <a:off x="475249" y="915777"/>
            <a:ext cx="8103870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TPR answers the question: "</a:t>
            </a: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 all the actual spam emails out there, what fraction did we successfully catch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?" It measures the effectiveness, or </a:t>
            </a: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benefit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, of our model. Our goal is to make this as high as possible.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926" y="2175451"/>
            <a:ext cx="8195098" cy="272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9F9F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9" name="Google Shape;289;p30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82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False Positive Rate (FPR): Cost</a:t>
            </a:r>
            <a:endParaRPr/>
          </a:p>
        </p:txBody>
      </p:sp>
      <p:sp>
        <p:nvSpPr>
          <p:cNvPr id="290" name="Google Shape;290;p30"/>
          <p:cNvSpPr txBox="1"/>
          <p:nvPr/>
        </p:nvSpPr>
        <p:spPr>
          <a:xfrm>
            <a:off x="475249" y="915777"/>
            <a:ext cx="8013700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5760" lvl="0" marL="377825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FPR answers the question: "</a:t>
            </a: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 all the important, non-spam emails, what 	fraction did we incorrectly send to the spam folder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?" This is the </a:t>
            </a: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cost 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or 	risk associated with our model. Our goal is to make this as low as possible.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763" y="2040376"/>
            <a:ext cx="8025679" cy="287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9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7" name="Google Shape;297;p31"/>
          <p:cNvSpPr txBox="1"/>
          <p:nvPr>
            <p:ph type="title"/>
          </p:nvPr>
        </p:nvSpPr>
        <p:spPr>
          <a:xfrm>
            <a:off x="272650" y="381198"/>
            <a:ext cx="8436290" cy="5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825">
            <a:spAutoFit/>
          </a:bodyPr>
          <a:lstStyle/>
          <a:p>
            <a:pPr indent="0" lvl="0" marL="124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ROC Curve</a:t>
            </a:r>
            <a:endParaRPr/>
          </a:p>
        </p:txBody>
      </p:sp>
      <p:pic>
        <p:nvPicPr>
          <p:cNvPr id="298" name="Google Shape;2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17724"/>
            <a:ext cx="9124562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/>
          <p:nvPr/>
        </p:nvSpPr>
        <p:spPr>
          <a:xfrm>
            <a:off x="384725" y="507788"/>
            <a:ext cx="5670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AUC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850" y="1017722"/>
            <a:ext cx="8832299" cy="411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2025-12-29T19:56:29Z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2025-12-29T00:00:00Z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2025-12-29T00:00:00Z</vt:filetime>
  </property>
</Properties>
</file>